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ACADEMIC TECHNOLOGY &amp; COURSE INNOVATION PORTFOLIO</a:t>
            </a:r>
          </a:p>
          <a:p>
            <a:pPr>
              <a:spcBef>
                <a:spcPts val="300"/>
              </a:spcBef>
              <a:defRPr sz="2800" b="1">
                <a:solidFill>
                  <a:srgbClr val="0F172A"/>
                </a:solidFill>
              </a:defRPr>
            </a:pPr>
            <a:r>
              <a:t>Next-Generation Tool Developments &amp; Systems</a:t>
            </a:r>
          </a:p>
          <a:p>
            <a:pPr>
              <a:spcBef>
                <a:spcPts val="500"/>
              </a:spcBef>
              <a:defRPr sz="1250">
                <a:solidFill>
                  <a:srgbClr val="64748B"/>
                </a:solidFill>
              </a:defRPr>
            </a:pPr>
            <a:r>
              <a:t>A comprehensive presentation of 4 custom-developed software systems transforming course engineering, active simulation, audio quality assurance, and rubric calibration.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84831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000" b="1">
                <a:solidFill>
                  <a:srgbClr val="9F1239"/>
                </a:solidFill>
              </a:defRPr>
            </a:pPr>
            <a:r>
              <a:t>PROJECT 01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Canvas Rubric Extractor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2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Zero-footprint in-browser automation tool (v5.77 userscript) extracting all course rubrics into formula-powered, styled Excel workbooks for CGL norming and AGM governance.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1,100 Lines of Production JS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Canvas REST API + Web Scraper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Live =SUM() Formula Injection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9F123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Zero Cloud Infrastructure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2514600" cy="4572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65576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PROJECT 02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Audio Transcriptor &amp; QA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3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Rapid desktop speech-to-text pipeline that generates timestamped subtitles and transcripts while visually auditing AI synthetic voices for robotic pacing (SPM cadence analysis).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2,870 Total Lines of Code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OpenAI Whisper (faster-whisper)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10-File Batch Queue Sequential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7C3AED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Visual Cadence QA Graph (SPM)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2331720"/>
            <a:ext cx="251460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03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Course Translation HUB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5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Automated AI course localization engine replacing hundreds of hours of manual labor. Translates Canvas IMSCC cartridges, EdTech books, and GitHub textbooks with zero layout breakage.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52 Python Modules / 13,438 LOC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Gemini AI, Canvas &amp; GitHub APIs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Specialized Processing Bots (HTML, MD, QA)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2563EB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Automated Excel KPI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2331720"/>
            <a:ext cx="25146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33688" y="2331720"/>
            <a:ext cx="251460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PROJECT 04</a:t>
            </a:r>
          </a:p>
          <a:p>
            <a:pPr>
              <a:spcBef>
                <a:spcPts val="200"/>
              </a:spcBef>
              <a:defRPr sz="1300" b="1">
                <a:solidFill>
                  <a:srgbClr val="0F172A"/>
                </a:solidFill>
              </a:defRPr>
            </a:pPr>
            <a:r>
              <a:t>PangeaWorld Simulation</a:t>
            </a:r>
          </a:p>
          <a:p>
            <a:pPr>
              <a:spcBef>
                <a:spcPts val="100"/>
              </a:spcBef>
              <a:defRPr sz="950">
                <a:solidFill>
                  <a:srgbClr val="64748B"/>
                </a:solidFill>
              </a:defRPr>
            </a:pPr>
            <a:r>
              <a:t>Section Length: 5 Slides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Multiplayer geopolitical and economic simulation custom-built for BUS 380 International Business. Fuses the strategic diplomacy of Risk, the resource trade of Catan, and the business depth of Capsim.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35,000+ Lines of Code / 240+ Files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FastAPI, WebSockets &amp; React 19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Pure-Math Procedural Map Engine</a:t>
            </a:r>
          </a:p>
          <a:p>
            <a:pPr>
              <a:spcBef>
                <a:spcPts val="250"/>
              </a:spcBef>
            </a:pPr>
            <a:r>
              <a:rPr sz="850" b="1">
                <a:solidFill>
                  <a:srgbClr val="059669"/>
                </a:solidFill>
              </a:rPr>
              <a:t>✓ </a:t>
            </a:r>
            <a:r>
              <a:rPr sz="850">
                <a:solidFill>
                  <a:srgbClr val="334155"/>
                </a:solidFill>
              </a:rPr>
              <a:t>Autonomous AI Seat Backfill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3688" y="2331720"/>
            <a:ext cx="251460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9F1239"/>
                </a:solidFill>
              </a:defRPr>
            </a:pPr>
            <a:r>
              <a:t>PROJECT 01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Rubric Extractor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F1239"/>
                </a:solidFill>
              </a:defRPr>
            </a:pPr>
            <a:r>
              <a:t>PROJECT 1: CANVAS RUBRIC EXTRACTOR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Brief: Browser-Based Rubric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2000" b="1">
                <a:solidFill>
                  <a:srgbClr val="9F1239"/>
                </a:solidFill>
              </a:defRPr>
            </a:pPr>
            <a:r>
              <a:rPr dirty="0"/>
              <a:t>1,100 Lines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Code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rPr dirty="0" err="1"/>
              <a:t>Tampermonkey</a:t>
            </a:r>
            <a:r>
              <a:rPr dirty="0"/>
              <a:t> v5.77 </a:t>
            </a:r>
            <a:r>
              <a:rPr dirty="0" err="1"/>
              <a:t>userscript</a:t>
            </a:r>
            <a:br>
              <a:rPr dirty="0"/>
            </a:br>
            <a:r>
              <a:rPr dirty="0"/>
              <a:t>Single-file browser automation script running natively in modern browsers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65576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1-Click Export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Native Canvas UI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Zero Software Install</a:t>
            </a:r>
            <a:br/>
            <a:r>
              <a:t>Seamless button injected into Canvas course navigation across BYU domains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371600"/>
            <a:ext cx="2514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2000" b="1">
                <a:solidFill>
                  <a:srgbClr val="7E22CE"/>
                </a:solidFill>
              </a:defRPr>
            </a:pPr>
            <a:r>
              <a:t>2 Export Modes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CGL &amp; AGM Formats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Strict Assessment Layouts</a:t>
            </a:r>
            <a:br/>
            <a:r>
              <a:t>Supports Course Governance Leads and Assessment Governance &amp; Measurement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33688" y="1371600"/>
            <a:ext cx="25146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Live Formulas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</a:defRPr>
            </a:pPr>
            <a:r>
              <a:t>Dynamic Calculations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Formula-Powered XLSX</a:t>
            </a:r>
            <a:br/>
            <a:r>
              <a:t>Injects active =SUM() formulas for automated grading totals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5248656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THE PROBLEM &amp; ARCHITECTURAL SOLUTION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The Administrative Bottleneck:</a:t>
            </a:r>
            <a:r>
              <a:rPr sz="900">
                <a:solidFill>
                  <a:srgbClr val="334155"/>
                </a:solidFill>
              </a:rPr>
              <a:t> Instructional designers, curriculum managers, and faculty spend countless tedious hours manually copying rubric grading tables from Canvas courses into local spreadsheets for auditing, accreditation, and instructional alignment.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1,100 Lines of Production JS:</a:t>
            </a:r>
            <a:r>
              <a:rPr sz="900">
                <a:solidFill>
                  <a:srgbClr val="334155"/>
                </a:solidFill>
              </a:rPr>
              <a:t> Version 5.77 is a sophisticated 1,100-line userscript built for Tampermonkey. It injects a clean, non-intrusive 'Export Rubrics' control directly into native Canvas navigation menus.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Canvas REST API + DOM Scraping:</a:t>
            </a:r>
            <a:r>
              <a:rPr sz="900">
                <a:solidFill>
                  <a:srgbClr val="334155"/>
                </a:solidFill>
              </a:rPr>
              <a:t> Intelligently queries the Canvas REST API (`/api/v1/courses/:id/rubrics`) for structured criteria while scraping active pages for hidden descriptions, ratings, and course breadcrumb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5248656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8776" y="3017520"/>
            <a:ext cx="5248656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9F1239"/>
                </a:solidFill>
              </a:defRPr>
            </a:pPr>
            <a:r>
              <a:t>EXCEL MODELING &amp; INSTITUTIONAL ROI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</a:rPr>
              <a:t>• Dual Assessment Modes:</a:t>
            </a:r>
            <a:r>
              <a:rPr sz="900">
                <a:solidFill>
                  <a:srgbClr val="334155"/>
                </a:solidFill>
              </a:rPr>
              <a:t> Supports CGL Mode (Course Governance Lead wide format for rubric norming) and AGM Mode (Assessment Governance &amp; Measurement compliance with strict column headers and criteria levels).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</a:rPr>
              <a:t>• Embedded SheetJS Engine:</a:t>
            </a:r>
            <a:r>
              <a:rPr sz="900">
                <a:solidFill>
                  <a:srgbClr val="334155"/>
                </a:solidFill>
              </a:rPr>
              <a:t> Emits genuine `.xlsx` binary workbooks complete with bold headers, freeze panes, customized column auto-fits, and clean cell padding.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</a:rPr>
              <a:t>• Active Excel Formulas:</a:t>
            </a:r>
            <a:r>
              <a:rPr sz="900">
                <a:solidFill>
                  <a:srgbClr val="334155"/>
                </a:solidFill>
              </a:rPr>
              <a:t> Rather than static point numbers, the script generates dynamic `=SUM(start:end)` formulas for total points, ensuring spreadsheets update automatically if faculty alter criteria values.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</a:rPr>
              <a:t>• Massive Labor Savings:</a:t>
            </a:r>
            <a:r>
              <a:rPr sz="900">
                <a:solidFill>
                  <a:srgbClr val="334155"/>
                </a:solidFill>
              </a:rPr>
              <a:t> Eliminates hours of tedious copy-pasting per course, freeing designers and faculty for higher-impact pedagogical tasks.</a:t>
            </a:r>
          </a:p>
          <a:p>
            <a:pPr>
              <a:spcBef>
                <a:spcPts val="250"/>
              </a:spcBef>
            </a:pPr>
            <a:r>
              <a:rPr sz="950" b="1">
                <a:solidFill>
                  <a:srgbClr val="0F172A"/>
                </a:solidFill>
              </a:rPr>
              <a:t>• Zero Server Maintenance:</a:t>
            </a:r>
            <a:r>
              <a:rPr sz="900">
                <a:solidFill>
                  <a:srgbClr val="334155"/>
                </a:solidFill>
              </a:rPr>
              <a:t> Injected directly via browser extension—requires no servers, databases, or recurring licensing costs across BYU-Pathway &amp; BYU-Idaho.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3017520"/>
            <a:ext cx="5248656" cy="36576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PROJECT 02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Audio Transcriptor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PROJECT 2: AUDIO TRANSCRIPTOR &amp; SPEECH QA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Local AI Audio Transcription &amp; Subtitles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188720"/>
          </a:xfrm>
          <a:prstGeom prst="rect">
            <a:avLst/>
          </a:prstGeom>
          <a:solidFill>
            <a:srgbClr val="F5F3FF"/>
          </a:solidFill>
          <a:ln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Ins="274320" rtlCol="0" anchor="ctr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THE BREAKTHROUGH: OFFLINE AI TRANSCRIPTION WITH ZERO CLOUD DEPENDENCY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Commercial transcription services charge per-minute fees, pose data-privacy risks for unreleased course videos, and require tedious web uploads. The Audio Transcriptor is a self-contained local workstation engine: processing multi-file video batches up to 4x real-time speed with state-of-the-art accuracy, automated subtitle alignment, and visual speech cadence verification.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12 Scripts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Modular Architecture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2,870 Total Lines of Code</a:t>
            </a:r>
            <a:br/>
            <a:r>
              <a:t>2,380 lines of clean Python + 490 lines of utility scripts and batch runners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3429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t>Local AI Whisper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Zero Cloud Fees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100% Data Privacy</a:t>
            </a:r>
            <a:br/>
            <a:r>
              <a:t>Powered by state-of-the-art OpenAI Whisper (faster-whisper) with GPU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69748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28432" y="269748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0EA5E9"/>
                </a:solidFill>
              </a:defRPr>
            </a:pPr>
            <a:r>
              <a:t>4 Output Formats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Turnkey Publishing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Universal Subtitle Compatibility</a:t>
            </a:r>
            <a:br/>
            <a:r>
              <a:t>Generates millisecond-accurate .SRT, .VTT, raw .TXT, and normalized speech .CSV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697480"/>
            <a:ext cx="3429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10728655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CORE SYSTEM CAPABILITIES &amp; HIGH-IMPACT DESIGN CHOICES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High-Performance Local Execution:</a:t>
            </a:r>
            <a:r>
              <a:rPr sz="900">
                <a:solidFill>
                  <a:srgbClr val="334155"/>
                </a:solidFill>
              </a:rPr>
              <a:t> Powered by `faster-whisper` (CTranslate2 reimplementation of OpenAI Whisper), achieving up to 4x speedup over standard PyTorch while utilizing NVIDIA CUDA GPU acceleration when present.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10-File Batch Processing Queue:</a:t>
            </a:r>
            <a:r>
              <a:rPr sz="900">
                <a:solidFill>
                  <a:srgbClr val="334155"/>
                </a:solidFill>
              </a:rPr>
              <a:t> Features a sequential batch runner that automatically discovers, extracts audio from, and transcribes up to 10 video files in sequence with live console progress bars.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Multi-Tier Model Selection:</a:t>
            </a:r>
            <a:r>
              <a:rPr sz="900">
                <a:solidFill>
                  <a:srgbClr val="334155"/>
                </a:solidFill>
              </a:rPr>
              <a:t> Supports switching between Whisper `tiny`, `base`, `small`, `medium`, and `large-v3` models, balancing transcription turnaround time against deep linguistic precision.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Automated Audio Normalization:</a:t>
            </a:r>
            <a:r>
              <a:rPr sz="900">
                <a:solidFill>
                  <a:srgbClr val="334155"/>
                </a:solidFill>
              </a:rPr>
              <a:t> Includes `ffmpeg` audio pre-processing that extracts audio streams, downmixes to 16kHz mono WAV, and normalizes decibel peaks for maximum transcription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72000"/>
            <a:ext cx="1072865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C3AED"/>
                </a:solidFill>
              </a:defRPr>
            </a:pPr>
            <a:r>
              <a:t>PROJECT 2: AUDIO TRANSCRIPTOR &amp; SPEECH QA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Quality Assurance: Speech Cadence &amp; Robotic Voice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defRPr sz="1300" b="1">
                <a:solidFill>
                  <a:srgbClr val="7C3AED"/>
                </a:solidFill>
              </a:defRPr>
            </a:pPr>
            <a:r>
              <a:t>QA SCOPE: VISUAL SPEECH CADENCE &amp; ROBOTIC VOICE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When educational videos utilize AI-generated text-to-speech narration, synthetic voices often suffer from unnatural, robotic delivery—either droning at a completely flat speed, rushing through dense technical terminology, or lagging unnaturally. The Audio Transcriptor incorporates a dedicated Quality Assurance module to mathematically identify and visualize these flaws before publication: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• Visual Cadence Graph Generation (.png): </a:t>
            </a:r>
            <a:r>
              <a:rPr sz="1050">
                <a:solidFill>
                  <a:srgbClr val="334155"/>
                </a:solidFill>
              </a:rPr>
              <a:t>Automatically plots a rolling Words-Per-Minute (WPM) and Syllables-Per-Minute (SPM) timeline curve across the entire duration of the video recording.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• Robotic Pacing Detection: </a:t>
            </a:r>
            <a:r>
              <a:rPr sz="1050">
                <a:solidFill>
                  <a:srgbClr val="334155"/>
                </a:solidFill>
              </a:rPr>
              <a:t>Flatline velocity segments immediately flag robotic AI audio that lacks natural human vocal inflections and breathing pauses, alerting editors to re-generate the clip.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• Speed Outlier Identification: </a:t>
            </a:r>
            <a:r>
              <a:rPr sz="1050">
                <a:solidFill>
                  <a:srgbClr val="334155"/>
                </a:solidFill>
              </a:rPr>
              <a:t>Mathematically highlights speech-rate anomalies: speech exceeding 190 WPM (too fast for student comprehension, especially for international/ESL learners) or dipping below 110 WPM (uncomfortably dragging).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0F172A"/>
                </a:solidFill>
              </a:rPr>
              <a:t>• Institutional Consistency &amp; Benchmark Calibration: </a:t>
            </a:r>
            <a:r>
              <a:rPr sz="1050">
                <a:solidFill>
                  <a:srgbClr val="334155"/>
                </a:solidFill>
              </a:rPr>
              <a:t>Empowers course design teams to establish an objective, visual QA standard so all university video assets maintain natural, professional pacing before final student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PROJECT 03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Course Translation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Next-Generation Course Localization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Ins="27432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THE CORE BREAKTHROUGH: AUTOMATING HUNDREDS OF HOURS OF MANUAL EFFORT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Previously, both student employees and course designers spent hundreds of hours per course manually copying, translating, and re-linking content—often breaking quiz grading, interactive widgets, and course layouts. Course Translation HUB acts as a turnkey digital factory: translating entire courses with one click while preserving 100% of the underlying architecture.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rPr dirty="0"/>
              <a:t>13,438 Lines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rPr dirty="0"/>
              <a:t>Code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52 custom Python modules</a:t>
            </a:r>
            <a:br>
              <a:rPr dirty="0"/>
            </a:br>
            <a:r>
              <a:rPr dirty="0"/>
              <a:t>16,749 total lines across system architecture, launchers &amp; test suites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429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6,570+ Files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Managed Ecosystem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6.93M+ Lines of Data</a:t>
            </a:r>
            <a:br/>
            <a:r>
              <a:t>Seamlessly processes Canvas cartridges (.imscc), QTI quizzes, HTML &amp; XML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78892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28432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22 Test Suites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Enterprise Reliability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Automated QA Verification</a:t>
            </a:r>
            <a:br/>
            <a:r>
              <a:t>Guarantees zero regressions in link rewriting, bot logic &amp; LMS compatibility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78892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REAL-WORLD OPERATIONAL IMPACT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85-90% Reduction in Labor Time:</a:t>
            </a:r>
            <a:r>
              <a:rPr sz="900">
                <a:solidFill>
                  <a:srgbClr val="334155"/>
                </a:solidFill>
              </a:rPr>
              <a:t> Courses that previously required an entire semester of manual student worker effort are now translated and packaged in under 48 hours.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Preserves All Original EN Settings:</a:t>
            </a:r>
            <a:r>
              <a:rPr sz="900">
                <a:solidFill>
                  <a:srgbClr val="334155"/>
                </a:solidFill>
              </a:rPr>
              <a:t> Preserves all original settings, configurations, and layouts from the source English (EN) course, dramatically reducing human labor when translating.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Cost Efficiency:</a:t>
            </a:r>
            <a:r>
              <a:rPr sz="900">
                <a:solidFill>
                  <a:srgbClr val="334155"/>
                </a:solidFill>
              </a:rPr>
              <a:t> Replaces expensive external agency translation fees with an in-house automated pipeline powered by Gemini, OpenAI, and Claude APIs.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Institutional Terminology Lock:</a:t>
            </a:r>
            <a:r>
              <a:rPr sz="900">
                <a:solidFill>
                  <a:srgbClr val="334155"/>
                </a:solidFill>
              </a:rPr>
              <a:t> Uses automated glossaries to ensure that core institutional phrases and religious terms remain 100% consistent across every translated course.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7286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Tooling Ecosystem: Multi-LLM Engine &amp; Specialized Processing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Multi-LLM Engine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Flexible AI Infrastructure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Model Agnostic: </a:t>
            </a:r>
            <a:r>
              <a:rPr sz="900">
                <a:solidFill>
                  <a:srgbClr val="334155"/>
                </a:solidFill>
              </a:rPr>
              <a:t>Supports Google Gemini 1.5 Pro, OpenAI GPT-4o, and Anthropic Claude 3.5 Sonnet.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Context-Aware Chunking: </a:t>
            </a:r>
            <a:r>
              <a:rPr sz="900">
                <a:solidFill>
                  <a:srgbClr val="334155"/>
                </a:solidFill>
              </a:rPr>
              <a:t>Intelligently splits large files (up to 500,000 words) without losing narrative coherence or cutting mid-sentence.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Prompt Engineering: </a:t>
            </a:r>
            <a:r>
              <a:rPr sz="900">
                <a:solidFill>
                  <a:srgbClr val="334155"/>
                </a:solidFill>
              </a:rPr>
              <a:t>Built-in system instructions enforce academic rigor, gender neutrality, and natural dialectical tone for Spanish, Portuguese, and French.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Auto Rate-Limit Handling: </a:t>
            </a:r>
            <a:r>
              <a:rPr sz="900">
                <a:solidFill>
                  <a:srgbClr val="334155"/>
                </a:solidFill>
              </a:rPr>
              <a:t>Includes automated retry backoffs and token budgeting to prevent API disruptions during large bulk translation runs.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290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9976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Desktop GUI &amp; CLI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Accessible to All Skill Levels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Tkinter Graphical Interface: </a:t>
            </a:r>
            <a:r>
              <a:rPr sz="900">
                <a:solidFill>
                  <a:srgbClr val="334155"/>
                </a:solidFill>
              </a:rPr>
              <a:t>Intuitive desktop application allowing non-technical student employees and designers to drag-and-drop course packages.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Real-Time Progress Tracking: </a:t>
            </a:r>
            <a:r>
              <a:rPr sz="900">
                <a:solidFill>
                  <a:srgbClr val="334155"/>
                </a:solidFill>
              </a:rPr>
              <a:t>Visual status bars show live module translation percentage, estimated completion time, and token consumption.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High-Throughput CLI: </a:t>
            </a:r>
            <a:r>
              <a:rPr sz="900">
                <a:solidFill>
                  <a:srgbClr val="334155"/>
                </a:solidFill>
              </a:rPr>
              <a:t>Full-featured command-line interface for power users, enabling batch operations and overnight unattended script runs.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Configuration Profiles: </a:t>
            </a:r>
            <a:r>
              <a:rPr sz="900">
                <a:solidFill>
                  <a:srgbClr val="334155"/>
                </a:solidFill>
              </a:rPr>
              <a:t>Save and load custom translation presets tailored for different academic departments or language targets.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137160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28432" y="1371600"/>
            <a:ext cx="34290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defRPr sz="1600" b="1">
                <a:solidFill>
                  <a:srgbClr val="7E22CE"/>
                </a:solidFill>
              </a:defRPr>
            </a:pPr>
            <a:r>
              <a:t>Specialized Content Bots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Autonomous Pipeline Workers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HTML &amp; Markdown Bots: </a:t>
            </a:r>
            <a:r>
              <a:rPr sz="900">
                <a:solidFill>
                  <a:srgbClr val="334155"/>
                </a:solidFill>
              </a:rPr>
              <a:t>Dedicated worker modules (html_bot.py, markdown_bot.py) that isolate translatable text while locking code, tags, and layouts.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Scripture &amp; Citation Bot: </a:t>
            </a:r>
            <a:r>
              <a:rPr sz="900">
                <a:solidFill>
                  <a:srgbClr val="334155"/>
                </a:solidFill>
              </a:rPr>
              <a:t>Specialized validator (scripturecheck_bot.py) ensuring sacred texts, scripture references, and institutional citations remain uncorrupted.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QA Audit &amp; Compliance Bots: </a:t>
            </a:r>
            <a:r>
              <a:rPr sz="900">
                <a:solidFill>
                  <a:srgbClr val="334155"/>
                </a:solidFill>
              </a:rPr>
              <a:t>Automated auditing bots (qa_audit_bot.py, auditor_bot.py) verifying HTML tag parity, hyperlink health, and translation completeness.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EdTech &amp; Image Bots: </a:t>
            </a:r>
            <a:r>
              <a:rPr sz="900">
                <a:solidFill>
                  <a:srgbClr val="334155"/>
                </a:solidFill>
              </a:rPr>
              <a:t>Specialized parsers (edtech_bot.py, image_bot.py) handling interactive course widgets, structured lessons, and image alt-text metadata.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8432" y="137160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End-to-End Course Ingestion &amp; Translation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Pipeline 1: Canvas Cartridges (.imscc)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2563EB"/>
                </a:solidFill>
              </a:defRPr>
            </a:pPr>
            <a:r>
              <a:t>[CANVAS LMS PACKAGES]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Automated Unpacking: </a:t>
            </a:r>
            <a:r>
              <a:rPr sz="850">
                <a:solidFill>
                  <a:srgbClr val="334155"/>
                </a:solidFill>
              </a:rPr>
              <a:t>Extracts native `.imscc` zip packages containing complete course structures.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HTML &amp; Assessment Parsing: </a:t>
            </a:r>
            <a:r>
              <a:rPr sz="850">
                <a:solidFill>
                  <a:srgbClr val="334155"/>
                </a:solidFill>
              </a:rPr>
              <a:t>Translates Canvas pages, syllabus descriptions, and complex QTI quizzes.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XML Manifest Rewriting: </a:t>
            </a:r>
            <a:r>
              <a:rPr sz="850">
                <a:solidFill>
                  <a:srgbClr val="334155"/>
                </a:solidFill>
              </a:rPr>
              <a:t>Updates metadata, titles, and resource identifiers so Canvas imports cleanly.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Turnkey Repackaging: </a:t>
            </a:r>
            <a:r>
              <a:rPr sz="850">
                <a:solidFill>
                  <a:srgbClr val="334155"/>
                </a:solidFill>
              </a:rPr>
              <a:t>Zips the translated course back into a verified `.imscc` file ready for Canvas.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65576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Pipeline 2: EdTech Book Shells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0D9488"/>
                </a:solidFill>
              </a:defRPr>
            </a:pPr>
            <a:r>
              <a:t>[STRUCTURED BOOKS &amp; LESSONS]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Book Shell Ingestion: </a:t>
            </a:r>
            <a:r>
              <a:rPr sz="850">
                <a:solidFill>
                  <a:srgbClr val="334155"/>
                </a:solidFill>
              </a:rPr>
              <a:t>Ingests structured EdTech textbook shells, lesson files, and chapter modules.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Layout &amp; Structure Lock: </a:t>
            </a:r>
            <a:r>
              <a:rPr sz="850">
                <a:solidFill>
                  <a:srgbClr val="334155"/>
                </a:solidFill>
              </a:rPr>
              <a:t>Preserves lesson hierarchies, code snippets, and math formulas without corruption.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Dual Language Target: </a:t>
            </a:r>
            <a:r>
              <a:rPr sz="850">
                <a:solidFill>
                  <a:srgbClr val="334155"/>
                </a:solidFill>
              </a:rPr>
              <a:t>Directly outputs verified Portuguese (PTBR) or Spanish (SPA) localized book shells.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Designer Hand-Off: </a:t>
            </a:r>
            <a:r>
              <a:rPr sz="850">
                <a:solidFill>
                  <a:srgbClr val="334155"/>
                </a:solidFill>
              </a:rPr>
              <a:t>Generates post-translation checklists for immediate integration into course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5576" y="1371600"/>
            <a:ext cx="2514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7E22CE"/>
                </a:solidFill>
              </a:defRPr>
            </a:pPr>
            <a:r>
              <a:t>Pipeline 3: GitHub Repositories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7E22CE"/>
                </a:solidFill>
              </a:defRPr>
            </a:pPr>
            <a:r>
              <a:t>[MARKDOWN &amp; COURSE SITES]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Repository Scanning: </a:t>
            </a:r>
            <a:r>
              <a:rPr sz="850">
                <a:solidFill>
                  <a:srgbClr val="334155"/>
                </a:solidFill>
              </a:rPr>
              <a:t>Clones and scans entire GitHub course repositories (e.g., BYU-I course repos).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Markdown &amp; FrontMatter: </a:t>
            </a:r>
            <a:r>
              <a:rPr sz="850">
                <a:solidFill>
                  <a:srgbClr val="334155"/>
                </a:solidFill>
              </a:rPr>
              <a:t>Translates Markdown prose while preserving YAML headers and code blocks.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Navigation &amp; Path Mapping: </a:t>
            </a:r>
            <a:r>
              <a:rPr sz="850">
                <a:solidFill>
                  <a:srgbClr val="334155"/>
                </a:solidFill>
              </a:rPr>
              <a:t>Automatically updates site navigation and maps internal relative links.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Published Site Generation: </a:t>
            </a:r>
            <a:r>
              <a:rPr sz="850">
                <a:solidFill>
                  <a:srgbClr val="334155"/>
                </a:solidFill>
              </a:rPr>
              <a:t>Publishes translated documentation and creates the localized GitHub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371600"/>
            <a:ext cx="25146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33688" y="1371600"/>
            <a:ext cx="2514600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Pipeline 4: Course Audit &amp; Link Mapping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[QA &amp; LINK NORMALIZATION]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Unmapped Link Discovery: </a:t>
            </a:r>
            <a:r>
              <a:rPr sz="850">
                <a:solidFill>
                  <a:srgbClr val="334155"/>
                </a:solidFill>
              </a:rPr>
              <a:t>Scans courses to flag any lingering English links or untranslated resource URLs.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Interactive Link Mapping: </a:t>
            </a:r>
            <a:r>
              <a:rPr sz="850">
                <a:solidFill>
                  <a:srgbClr val="334155"/>
                </a:solidFill>
              </a:rPr>
              <a:t>Prompts course designers to provide translated URLs with instant copy/paste tools.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HTML Tag Parity Auditing: </a:t>
            </a:r>
            <a:r>
              <a:rPr sz="850">
                <a:solidFill>
                  <a:srgbClr val="334155"/>
                </a:solidFill>
              </a:rPr>
              <a:t>Compares source vs. target HTML tags to guarantee layout fidelity.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F172A"/>
                </a:solidFill>
              </a:rPr>
              <a:t>• Excel Audit Reports: </a:t>
            </a:r>
            <a:r>
              <a:rPr sz="850">
                <a:solidFill>
                  <a:srgbClr val="334155"/>
                </a:solidFill>
              </a:rPr>
              <a:t>Generates automated Excel ledgers detailing course health, link mappings, and status.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3: COURSE TRANSLATION HUB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Post-Translation Checklist &amp; Automated Audit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USER'S POST-TRANSLATION CHECKLIST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Mandatory Canvas LMS &amp; EdTech post-import operational steps presented in the Hub UI: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Import Course Package:</a:t>
            </a:r>
            <a:r>
              <a:rPr sz="850">
                <a:solidFill>
                  <a:srgbClr val="334155"/>
                </a:solidFill>
              </a:rPr>
              <a:t> Import the translated .imscc course package directly into the target Canvas course shell.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Set Course Language:</a:t>
            </a:r>
            <a:r>
              <a:rPr sz="850">
                <a:solidFill>
                  <a:srgbClr val="334155"/>
                </a:solidFill>
              </a:rPr>
              <a:t> In Canvas Settings, update course language to the target language (Português / Spanish).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Disable Improved Rubrics:</a:t>
            </a:r>
            <a:r>
              <a:rPr sz="850">
                <a:solidFill>
                  <a:srgbClr val="334155"/>
                </a:solidFill>
              </a:rPr>
              <a:t> In Course Settings &gt; Feature Options, DISABLE 'Improved Rubrics' to avoid layout defects.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Configure Late Policies:</a:t>
            </a:r>
            <a:r>
              <a:rPr sz="850">
                <a:solidFill>
                  <a:srgbClr val="334155"/>
                </a:solidFill>
              </a:rPr>
              <a:t> In Gradebook Settings &gt; Late Policies, check 'Automatically apply grade for missing submissions' and set to 0%.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Enable Gradebook View Options:</a:t>
            </a:r>
            <a:r>
              <a:rPr sz="850">
                <a:solidFill>
                  <a:srgbClr val="334155"/>
                </a:solidFill>
              </a:rPr>
              <a:t> In Grades &gt; Settings &gt; View Options, enable 'Notes' and 'Unpublished Assignments' (with 1-click Gradebook Settings.png helper).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Setup Page Verification:</a:t>
            </a:r>
            <a:r>
              <a:rPr sz="850">
                <a:solidFill>
                  <a:srgbClr val="334155"/>
                </a:solidFill>
              </a:rPr>
              <a:t> Remind and coordinate with course leads (e.g. Jenn Hunter) to check and verify the Setup Page.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Sidebar Navigation:</a:t>
            </a:r>
            <a:r>
              <a:rPr sz="850">
                <a:solidFill>
                  <a:srgbClr val="334155"/>
                </a:solidFill>
              </a:rPr>
              <a:t> In Canvas Settings &gt; Navigation, add the required Tutoring link to the course sidebar.</a:t>
            </a:r>
          </a:p>
          <a:p>
            <a:pPr>
              <a:spcBef>
                <a:spcPts val="350"/>
              </a:spcBef>
            </a:pPr>
            <a:r>
              <a:rPr sz="900" b="1">
                <a:solidFill>
                  <a:srgbClr val="0F172A"/>
                </a:solidFill>
              </a:rPr>
              <a:t>✓ EdTech Shell Post-Checks:</a:t>
            </a:r>
            <a:r>
              <a:rPr sz="850">
                <a:solidFill>
                  <a:srgbClr val="334155"/>
                </a:solidFill>
              </a:rPr>
              <a:t> For book shells, verify localized Cover Image, custom CSS in book settings, and chapter hierarchy.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TRANSLATION HUB EXCEL AUDIT REPORTS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Automated multi-tab workbooks generated in the Reports folder for quality assurance: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Canvas Translation Dashboard ({Course} Translation Report.xlsx)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Dashboard KPI Tab: </a:t>
            </a:r>
            <a:r>
              <a:rPr sz="800">
                <a:solidFill>
                  <a:srgbClr val="334155"/>
                </a:solidFill>
              </a:rPr>
              <a:t>KPI summary cards with live Excel formulas for total events, success rate, errors, skipped files, and bot filter dropdown.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Bot Analysis Tab: </a:t>
            </a:r>
            <a:r>
              <a:rPr sz="800">
                <a:solidFill>
                  <a:srgbClr val="334155"/>
                </a:solidFill>
              </a:rPr>
              <a:t>Per-bot throughput statistics with an embedded stacked column chart showing bot reliability and error distribution.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Translated Pages Tab: </a:t>
            </a:r>
            <a:r>
              <a:rPr sz="800">
                <a:solidFill>
                  <a:srgbClr val="334155"/>
                </a:solidFill>
              </a:rPr>
              <a:t>Deduplicated page registry; automatically flags source course flaws with 'Duplicate Name (FIX EN Course)'. 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Translation Review Tab: </a:t>
            </a:r>
            <a:r>
              <a:rPr sz="800">
                <a:solidFill>
                  <a:srgbClr val="334155"/>
                </a:solidFill>
              </a:rPr>
              <a:t>Categorizes items by Canvas type with color-coded status dropdowns (Translated / Student Reviewed / Professionally Reviewed).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Link Actions Tab: </a:t>
            </a:r>
            <a:r>
              <a:rPr sz="800">
                <a:solidFill>
                  <a:srgbClr val="334155"/>
                </a:solidFill>
              </a:rPr>
              <a:t>Consolidates Google links stripped of tracking redirects, skipped domains, commented links, and obsolete links.</a:t>
            </a:r>
          </a:p>
          <a:p>
            <a:pPr>
              <a:spcBef>
                <a:spcPts val="500"/>
              </a:spcBef>
              <a:defRPr sz="1000" b="1">
                <a:solidFill>
                  <a:srgbClr val="0F172A"/>
                </a:solidFill>
              </a:defRPr>
            </a:pPr>
            <a:r>
              <a:t>Course Quality Audit &amp; GitHub Reports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Course Audit Report (Audit_Report_{Course}.xlsx): </a:t>
            </a:r>
            <a:r>
              <a:rPr sz="800">
                <a:solidFill>
                  <a:srgbClr val="334155"/>
                </a:solidFill>
              </a:rPr>
              <a:t>3-tab ledger covering Page match status, deep LLM Content discrepancy analysis, and Link integrity.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GitHub Translation Report ({Repo} Report.xlsx): </a:t>
            </a:r>
            <a:r>
              <a:rPr sz="800">
                <a:solidFill>
                  <a:srgbClr val="334155"/>
                </a:solidFill>
              </a:rPr>
              <a:t>Audit logs tracking translated Markdown docs, variable consistency, and image Alt-Text logs.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9669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PROJECT 04</a:t>
            </a:r>
          </a:p>
          <a:p>
            <a:pPr>
              <a:spcBef>
                <a:spcPts val="800"/>
              </a:spcBef>
              <a:defRPr sz="4600" b="1">
                <a:solidFill>
                  <a:srgbClr val="FFFFFF"/>
                </a:solidFill>
              </a:defRPr>
            </a:pPr>
            <a:r>
              <a:t>PangeaWorld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977639"/>
            <a:ext cx="16459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Project Overview: Geopolitical &amp; Macroeconomic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Ins="27432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ACADEMIC STRATEGY: BUILT FIRST FOR BUS 380 INTERNATIONAL BUSINESS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</a:defRPr>
            </a:pPr>
            <a:r>
              <a:t>PangeaWorld was engineered from the ground up specifically for the BUS 380 International Business course. By transforming static business case studies into a living, high-stakes global arena, students actively navigate tariffs, trade embargoes, supply chain shocks, and currency valuations. Its modular architecture ensures it scales effortlessly across Economics, Supply Chain, and Business Fundamentals courses.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059669"/>
                </a:solidFill>
              </a:defRPr>
            </a:pPr>
            <a:r>
              <a:rPr dirty="0"/>
              <a:t>35,000+ Lines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rPr dirty="0"/>
              <a:t>Code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dirty="0"/>
              <a:t>240+ Source Files</a:t>
            </a:r>
            <a:br>
              <a:rPr dirty="0"/>
            </a:br>
            <a:r>
              <a:rPr dirty="0"/>
              <a:t>Modern full-stack web architecture built with React 19, TypeScript &amp; Node.js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342900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9976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0D9488"/>
                </a:solidFill>
              </a:defRPr>
            </a:pPr>
            <a:r>
              <a:t>3 Games in 1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Gameplay Innovation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Risk + Catan + Capsim</a:t>
            </a:r>
            <a:br/>
            <a:r>
              <a:t>Territorial diplomacy, resource-scarcity barter, and corporate finance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2788920"/>
            <a:ext cx="34290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28432" y="2788920"/>
            <a:ext cx="342900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2200" b="1">
                <a:solidFill>
                  <a:srgbClr val="7E22CE"/>
                </a:solidFill>
              </a:defRPr>
            </a:pPr>
            <a:r>
              <a:t>25 Test Suites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Enterprise Reliability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Zero Desync Architecture</a:t>
            </a:r>
            <a:br/>
            <a:r>
              <a:t>Rigorous automated integration tests ensuring rock-solid real-time multiplayer states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28432" y="2788920"/>
            <a:ext cx="3429000" cy="36576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10728655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Ins="27432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SYNTHESIZING THE BEST OF THREE LEGENDARY GAMES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The Geopolitical Strategy of Risk:</a:t>
            </a:r>
            <a:r>
              <a:rPr sz="900">
                <a:solidFill>
                  <a:srgbClr val="334155"/>
                </a:solidFill>
              </a:rPr>
              <a:t> Global territorial control, diplomatic alliances, contested border defenses, and treaty negotiations that make international politics tangible.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The Resource Trade of Catan:</a:t>
            </a:r>
            <a:r>
              <a:rPr sz="900">
                <a:solidFill>
                  <a:srgbClr val="334155"/>
                </a:solidFill>
              </a:rPr>
              <a:t> Scarcity-driven barter mechanics, hexagonal supply regions, raw material harvesting, and multi-lateral trading desks.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The Deep Business Mechanics of Capsim:</a:t>
            </a:r>
            <a:r>
              <a:rPr sz="900">
                <a:solidFill>
                  <a:srgbClr val="334155"/>
                </a:solidFill>
              </a:rPr>
              <a:t> Rigorous financial balance sheets, debt management, factory capacity investments, R&amp;D allocation, and quarterly ROI scoring.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0F172A"/>
                </a:solidFill>
              </a:rPr>
              <a:t>• Seamless Academic Integration:</a:t>
            </a:r>
            <a:r>
              <a:rPr sz="900">
                <a:solidFill>
                  <a:srgbClr val="334155"/>
                </a:solidFill>
              </a:rPr>
              <a:t> Eliminates expensive commercial simulation licenses ($40–$80 per student) through in-house proprietary software.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663440"/>
            <a:ext cx="1072865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Gameplay Dynamics: 14-Round Macro &amp; Micro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10728655" cy="77724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rPr dirty="0"/>
              <a:t>14-ROUND TEMPORAL ARCHITECTURE: 7 YEARS SPLIT INTO 14 SEMI-ANNUAL PHASES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</a:defRPr>
            </a:pPr>
            <a:r>
              <a:rPr dirty="0"/>
              <a:t>Each simulation represents 7 annual business years, executed as a 48-hour staggered decision loop: Day 1 (First 6 Months) gives National Presidents authoritative control, followed by Day 2 (Second 6 Months) where Corporate Executives execute firm-level market operations under the new sovereign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SOVEREIGN PRESIDENTIAL PHASE (MACRO GOVERNANCE)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 Student Presidents (1 per sovereign nation) + 1 Autonomous Rogue State (Drakmoor)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Macroeconomic Levers:</a:t>
            </a:r>
            <a:r>
              <a:rPr sz="800">
                <a:solidFill>
                  <a:srgbClr val="334155"/>
                </a:solidFill>
              </a:rPr>
              <a:t> Sets national tariffs, corporate tax rates, central bank interest rates, and foreign exchange reserves.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Infrastructure Megaprojects:</a:t>
            </a:r>
            <a:r>
              <a:rPr sz="800">
                <a:solidFill>
                  <a:srgbClr val="334155"/>
                </a:solidFill>
              </a:rPr>
              <a:t> Allocates treasury into rail networks, deep-water ports, energy grids, and broadband infrastructure.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Corporate Lobbying Ingestion:</a:t>
            </a:r>
            <a:r>
              <a:rPr sz="800">
                <a:solidFill>
                  <a:srgbClr val="334155"/>
                </a:solidFill>
              </a:rPr>
              <a:t> Reviews and approves/denies formal lobbying petitions from domestic companies (subsidies, port access).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Diplomacy &amp; Pangea Assembly:</a:t>
            </a:r>
            <a:r>
              <a:rPr sz="800">
                <a:solidFill>
                  <a:srgbClr val="334155"/>
                </a:solidFill>
              </a:rPr>
              <a:t> Negotiates bilateral trade corridors, sponsors multilateral sanctions in the UN-style Assembly, and forms defense pacts.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Intelligence &amp; Military Campaigns:</a:t>
            </a:r>
            <a:r>
              <a:rPr sz="800">
                <a:solidFill>
                  <a:srgbClr val="334155"/>
                </a:solidFill>
              </a:rPr>
              <a:t> Deploys intelligence/espionage and launches multi-quarter military campaigns with conditional orders.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President Scorecard &amp; KPIs:</a:t>
            </a:r>
            <a:r>
              <a:rPr sz="800">
                <a:solidFill>
                  <a:srgbClr val="334155"/>
                </a:solidFill>
              </a:rPr>
              <a:t> Evaluated on National GDP Growth (real &amp; delta), Inflation Stability (CPI index), and Citizen Approval Rating.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08776" y="2240280"/>
            <a:ext cx="5248656" cy="37033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CORPORATE EXECUTIVE PHASE (MICRO ENTERPRISE)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850">
                <a:solidFill>
                  <a:srgbClr val="64748B"/>
                </a:solidFill>
              </a:defRPr>
            </a:pPr>
            <a:r>
              <a:t>70–105 Student Executives across 10–15 competing corporate enterprises per nation (2–4 per team)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Macro Reaction &amp; Planning:</a:t>
            </a:r>
            <a:r>
              <a:rPr sz="800">
                <a:solidFill>
                  <a:srgbClr val="334155"/>
                </a:solidFill>
              </a:rPr>
              <a:t> Analyzes new presidential decrees, tariffs, and commodity costs to lock in quarterly business strategy.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Opportunity-Cost Allocation:</a:t>
            </a:r>
            <a:r>
              <a:rPr sz="800">
                <a:solidFill>
                  <a:srgbClr val="334155"/>
                </a:solidFill>
              </a:rPr>
              <a:t> Strict CAPSIM-style trade-offs: capital spent on Marketing or R&amp;D directly foregoes tooling, inventory, or debt payoff.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Supply Chain &amp; Logistics:</a:t>
            </a:r>
            <a:r>
              <a:rPr sz="800">
                <a:solidFill>
                  <a:srgbClr val="334155"/>
                </a:solidFill>
              </a:rPr>
              <a:t> Procures raw commodities (oil, timber, rare earths), contracts rail/maritime freight, and manages inventory holding.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Pricing &amp; Market Competition:</a:t>
            </a:r>
            <a:r>
              <a:rPr sz="800">
                <a:solidFill>
                  <a:srgbClr val="334155"/>
                </a:solidFill>
              </a:rPr>
              <a:t> Sets wholesale/retail pricing, enters foreign consumer markets, and competes against rival firms across 8 nations.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Sovereign Lobbying Petitions:</a:t>
            </a:r>
            <a:r>
              <a:rPr sz="800">
                <a:solidFill>
                  <a:srgbClr val="334155"/>
                </a:solidFill>
              </a:rPr>
              <a:t> Drafts formal resource subsidies and infrastructure requests to the national president to remove bottlenecks.</a:t>
            </a:r>
          </a:p>
          <a:p>
            <a:pPr>
              <a:spcBef>
                <a:spcPts val="300"/>
              </a:spcBef>
            </a:pPr>
            <a:r>
              <a:rPr sz="850" b="1">
                <a:solidFill>
                  <a:srgbClr val="0F172A"/>
                </a:solidFill>
              </a:rPr>
              <a:t>• Executive Scorecard &amp; KPIs:</a:t>
            </a:r>
            <a:r>
              <a:rPr sz="800">
                <a:solidFill>
                  <a:srgbClr val="334155"/>
                </a:solidFill>
              </a:rPr>
              <a:t> Evaluated on Market Share %, Net Revenue &amp; Margin, Inventory Carrying Cost, Return on Capital, and Valuation.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2240280"/>
            <a:ext cx="5248656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6035040"/>
            <a:ext cx="10728655" cy="502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CROSS-SYSTEM MECHANICS:  </a:t>
            </a:r>
            <a:r>
              <a:rPr sz="800" b="1">
                <a:solidFill>
                  <a:srgbClr val="0F172A"/>
                </a:solidFill>
              </a:rPr>
              <a:t>6-Month Policy Lag: </a:t>
            </a:r>
            <a:r>
              <a:rPr sz="800">
                <a:solidFill>
                  <a:srgbClr val="334155"/>
                </a:solidFill>
              </a:rPr>
              <a:t>Simulates macroeconomic delay as corporate balance sheets absorb state fiscal decisions.  |  </a:t>
            </a:r>
            <a:r>
              <a:rPr sz="800" b="1">
                <a:solidFill>
                  <a:srgbClr val="0F172A"/>
                </a:solidFill>
              </a:rPr>
              <a:t>Zero-Elimination &amp; AI Swarm: </a:t>
            </a:r>
            <a:r>
              <a:rPr sz="800">
                <a:solidFill>
                  <a:srgbClr val="334155"/>
                </a:solidFill>
              </a:rPr>
              <a:t>All seats play all 14 rounds; inactive seats are autonomously backfilled.  |  </a:t>
            </a:r>
            <a:r>
              <a:rPr sz="800" b="1">
                <a:solidFill>
                  <a:srgbClr val="0F172A"/>
                </a:solidFill>
              </a:rPr>
              <a:t>Context-Grounded AI Advisor: </a:t>
            </a:r>
            <a:r>
              <a:rPr sz="800">
                <a:solidFill>
                  <a:srgbClr val="334155"/>
                </a:solidFill>
              </a:rPr>
              <a:t>Gemini advisor analyzes Assembly debates &amp; Pangea Times news feeds.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035040"/>
            <a:ext cx="731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PROJECT 4: PANGEAWORLD SIMULATION</a:t>
            </a:r>
          </a:p>
          <a:p>
            <a:pPr>
              <a:spcBef>
                <a:spcPts val="300"/>
              </a:spcBef>
              <a:defRPr sz="2100" b="1">
                <a:solidFill>
                  <a:srgbClr val="0F172A"/>
                </a:solidFill>
              </a:defRPr>
            </a:pPr>
            <a:r>
              <a:t>Deterministic Turn Engine &amp; Autonomous AI 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11480"/>
            <a:ext cx="11274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463040" cy="228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DETERMINISTIC SIMULATION ENGINE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</a:rPr>
              <a:t>✓ Discrete Turn Resolution Pipeline: </a:t>
            </a:r>
            <a:r>
              <a:rPr sz="950">
                <a:solidFill>
                  <a:srgbClr val="334155"/>
                </a:solidFill>
              </a:rPr>
              <a:t>Simultaneous turn execution eliminates 'first-player advantage'. All student decisions (tariffs, troop movements, investments) resolve in a synchronized processing tick.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</a:rPr>
              <a:t>✓ Market Pricing &amp; Inflation Matrix: </a:t>
            </a:r>
            <a:r>
              <a:rPr sz="950">
                <a:solidFill>
                  <a:srgbClr val="334155"/>
                </a:solidFill>
              </a:rPr>
              <a:t>Prices for raw resources (oil, minerals, wheat) fluctuate dynamically using true microeconomic curves based on aggregate student demand and supply shocks.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</a:rPr>
              <a:t>✓ Currency &amp; Exchange Rate Engine: </a:t>
            </a:r>
            <a:r>
              <a:rPr sz="950">
                <a:solidFill>
                  <a:srgbClr val="334155"/>
                </a:solidFill>
              </a:rPr>
              <a:t>Simulates floating exchange rates where national balance of payments, export volumes, and inflation directly affect currency purchasing power.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</a:rPr>
              <a:t>✓ Geopolitical Risk Calculations: </a:t>
            </a:r>
            <a:r>
              <a:rPr sz="950">
                <a:solidFill>
                  <a:srgbClr val="334155"/>
                </a:solidFill>
              </a:rPr>
              <a:t>Calculates regional stability indices, supply chain friction, and diplomatic reputation penalties for breaking trade pacts or declaring unauthorized embargoes.</a:t>
            </a:r>
          </a:p>
          <a:p>
            <a:pPr>
              <a:spcBef>
                <a:spcPts val="500"/>
              </a:spcBef>
            </a:pPr>
            <a:r>
              <a:rPr sz="1000" b="1">
                <a:solidFill>
                  <a:srgbClr val="0F172A"/>
                </a:solidFill>
              </a:rPr>
              <a:t>✓ Automated Verification Suite: </a:t>
            </a:r>
            <a:r>
              <a:rPr sz="950">
                <a:solidFill>
                  <a:srgbClr val="334155"/>
                </a:solidFill>
              </a:rPr>
              <a:t>25 unit and integration test suites validate game balance, preventing economic exploits, infinite-money loops, or game-breaking exploits.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08776" y="1371600"/>
            <a:ext cx="5248656" cy="5029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AUTONOMOUS AI OPPONENTS (SEAT BACKFILL)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</a:defRPr>
            </a:pPr>
            <a:r>
              <a:t>To guarantee flawless classroom sessions regardless of student attendance, PangeaWorld features an autonomous AI Swarm that immediately backfills empty nation seats with distinct economic personalities: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The Mercantile Nation (Trade Focused):
</a:t>
            </a:r>
            <a:r>
              <a:rPr sz="900">
                <a:solidFill>
                  <a:srgbClr val="334155"/>
                </a:solidFill>
              </a:rPr>
              <a:t>Aggressively builds trade networks, honors commercial treaties, and provides liquidity to student barter markets.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The Protectionist Hegemon (Defensive):
</a:t>
            </a:r>
            <a:r>
              <a:rPr sz="900">
                <a:solidFill>
                  <a:srgbClr val="334155"/>
                </a:solidFill>
              </a:rPr>
              <a:t>Imposes high import tariffs, subsidizes domestic industries, and maintains strong border defenses.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The Diplomatic Arbitrator (Neutral):
</a:t>
            </a:r>
            <a:r>
              <a:rPr sz="900">
                <a:solidFill>
                  <a:srgbClr val="334155"/>
                </a:solidFill>
              </a:rPr>
              <a:t>Mediates international disputes, facilitates multi-party alliances, and stabilizes currency exchange swings.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The Opportunistic Aggressor (Expansionist):
</a:t>
            </a:r>
            <a:r>
              <a:rPr sz="900">
                <a:solidFill>
                  <a:srgbClr val="334155"/>
                </a:solidFill>
              </a:rPr>
              <a:t>Pressures vulnerable trade routes and exploits resource bottlenecks created by student mismanagement.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371600"/>
            <a:ext cx="5248656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3595</Words>
  <Application>Microsoft Office PowerPoint</Application>
  <PresentationFormat>Widescreen</PresentationFormat>
  <Paragraphs>247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Vinicius Tavares</cp:lastModifiedBy>
  <cp:revision>2</cp:revision>
  <dcterms:created xsi:type="dcterms:W3CDTF">2013-01-27T09:14:16Z</dcterms:created>
  <dcterms:modified xsi:type="dcterms:W3CDTF">2026-10-27T00:37:05Z</dcterms:modified>
  <cp:category/>
</cp:coreProperties>
</file>