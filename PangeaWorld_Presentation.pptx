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PANGEAWORLD SIMULATION PLATFORM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Overview: Geopolitical &amp; Macroeconomic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01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16459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ACADEMIC STRATEGY: BUILT FIRST FOR BUS 380 INTERNATIONAL BUSINESS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PangeaWorld was engineered from the ground up specifically for the BUS 380 International Business course. By transforming static business case studies into a living, high-stakes global arena, students actively navigate tariffs, trade embargoes, supply chain shocks, and currency valuations. Its modular architecture scales across Economics, Supply Chain, and Business Fundamentals courses.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35,000+ Lines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Handcrafted Code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240+ Source Files</a:t>
            </a:r>
            <a:br/>
            <a:r>
              <a:t>Modern full-stack web architecture built with React 19, TypeScript &amp; Python FastAPI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34290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3 Games in 1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Gameplay Innovation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Risk + Catan + Capsim</a:t>
            </a:r>
            <a:br/>
            <a:r>
              <a:t>Territorial diplomacy, resource-scarcity barter, and corporate finance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2788920"/>
            <a:ext cx="3429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8432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7E22CE"/>
                </a:solidFill>
              </a:defRPr>
            </a:pPr>
            <a:r>
              <a:t>25 Test Suites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Enterprise Reliability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Zero Desync Architecture</a:t>
            </a:r>
            <a:br/>
            <a:r>
              <a:t>Rigorous automated integration tests ensuring rock-solid real-time multiplayer states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2788920"/>
            <a:ext cx="34290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SYNTHESIZING THE BEST OF THREE LEGENDARY GAMES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The Geopolitical Strategy of Risk:</a:t>
            </a:r>
            <a:r>
              <a:rPr sz="900">
                <a:solidFill>
                  <a:srgbClr val="334155"/>
                </a:solidFill>
              </a:rPr>
              <a:t> Global territorial control, diplomatic alliances, contested border defenses, and treaty negotiations that make international politics tangible.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The Resource Trade of Catan:</a:t>
            </a:r>
            <a:r>
              <a:rPr sz="900">
                <a:solidFill>
                  <a:srgbClr val="334155"/>
                </a:solidFill>
              </a:rPr>
              <a:t> Scarcity-driven barter mechanics, procedural supply regions, raw material harvesting, and multi-lateral trading desks.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The Deep Business Mechanics of Capsim:</a:t>
            </a:r>
            <a:r>
              <a:rPr sz="900">
                <a:solidFill>
                  <a:srgbClr val="334155"/>
                </a:solidFill>
              </a:rPr>
              <a:t> Rigorous financial balance sheets, debt management, factory capacity investments, R&amp;D allocation, and quarterly ROI scoring.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Seamless Academic Integration:</a:t>
            </a:r>
            <a:r>
              <a:rPr sz="900">
                <a:solidFill>
                  <a:srgbClr val="334155"/>
                </a:solidFill>
              </a:rPr>
              <a:t> Eliminates expensive commercial simulation licenses ($40–$80 per student) through in-house proprietary software.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PANGEAWORLD SIMULATION PLATFORM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Gameplay Dynamics: 14-Round Macro &amp; Micro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77724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14-ROUND TEMPORAL ARCHITECTURE: 7 FISCAL YEARS SPLIT INTO 14 SEMI-ANNUAL PHASES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Each simulation represents 7 annual business years, executed as a 48-hour staggered decision loop: Day 1 (First 6 Months) gives National Presidents authoritative macro control, followed by Day 2 (Second 6 Months) where Corporate Executives execute firm-level market operations under the new sovereign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5248656" cy="3703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SOVEREIGN PRESIDENTIAL PHASE (MACRO GOVERNANCE)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7 Student Presidents (1 per sovereign nation) + 1 Autonomous Rogue State (Drakmoor)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Macroeconomic Levers:</a:t>
            </a:r>
            <a:r>
              <a:rPr sz="800">
                <a:solidFill>
                  <a:srgbClr val="334155"/>
                </a:solidFill>
              </a:rPr>
              <a:t> Sets national tariffs, corporate tax rates, central bank interest rates, and foreign exchange reserves.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Infrastructure Megaprojects:</a:t>
            </a:r>
            <a:r>
              <a:rPr sz="800">
                <a:solidFill>
                  <a:srgbClr val="334155"/>
                </a:solidFill>
              </a:rPr>
              <a:t> Allocates treasury into rail networks, deep-water ports, energy grids, and broadband infrastructure.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Corporate Lobbying Ingestion:</a:t>
            </a:r>
            <a:r>
              <a:rPr sz="800">
                <a:solidFill>
                  <a:srgbClr val="334155"/>
                </a:solidFill>
              </a:rPr>
              <a:t> Reviews and approves/denies formal lobbying petitions from domestic companies (subsidies, port access).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Diplomacy &amp; Pangea Assembly:</a:t>
            </a:r>
            <a:r>
              <a:rPr sz="800">
                <a:solidFill>
                  <a:srgbClr val="334155"/>
                </a:solidFill>
              </a:rPr>
              <a:t> Negotiates bilateral trade corridors, sponsors multilateral sanctions in the UN-style Assembly, and forms defense pacts.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Intelligence &amp; Military Campaigns:</a:t>
            </a:r>
            <a:r>
              <a:rPr sz="800">
                <a:solidFill>
                  <a:srgbClr val="334155"/>
                </a:solidFill>
              </a:rPr>
              <a:t> Deploys intelligence/espionage and launches multi-quarter military campaigns with conditional orders.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President Scorecard &amp; KPIs:</a:t>
            </a:r>
            <a:r>
              <a:rPr sz="800">
                <a:solidFill>
                  <a:srgbClr val="334155"/>
                </a:solidFill>
              </a:rPr>
              <a:t> Evaluated on National GDP Growth (real &amp; delta), Inflation Stability (CPI index), and Citizen Approval Rating.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240280"/>
            <a:ext cx="5248656" cy="3703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CORPORATE EXECUTIVE PHASE (MICRO ENTERPRISE)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70–105 Student Executives across 10–15 competing corporate enterprises per nation (2–4 per team)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Macro Reaction &amp; Planning:</a:t>
            </a:r>
            <a:r>
              <a:rPr sz="800">
                <a:solidFill>
                  <a:srgbClr val="334155"/>
                </a:solidFill>
              </a:rPr>
              <a:t> Analyzes new presidential decrees, tariffs, and commodity costs to lock in quarterly business strategy.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Opportunity-Cost Allocation:</a:t>
            </a:r>
            <a:r>
              <a:rPr sz="800">
                <a:solidFill>
                  <a:srgbClr val="334155"/>
                </a:solidFill>
              </a:rPr>
              <a:t> Strict CAPSIM-style trade-offs: capital spent on Marketing or R&amp;D directly foregoes tooling, inventory, or debt payoff.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Supply Chain &amp; Logistics:</a:t>
            </a:r>
            <a:r>
              <a:rPr sz="800">
                <a:solidFill>
                  <a:srgbClr val="334155"/>
                </a:solidFill>
              </a:rPr>
              <a:t> Procures raw commodities (oil, timber, rare earths), contracts rail/maritime freight, and manages inventory holding.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Pricing &amp; Market Competition:</a:t>
            </a:r>
            <a:r>
              <a:rPr sz="800">
                <a:solidFill>
                  <a:srgbClr val="334155"/>
                </a:solidFill>
              </a:rPr>
              <a:t> Sets wholesale/retail pricing, enters foreign consumer markets, and competes against rival firms across 8 nations.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Sovereign Lobbying Petitions:</a:t>
            </a:r>
            <a:r>
              <a:rPr sz="800">
                <a:solidFill>
                  <a:srgbClr val="334155"/>
                </a:solidFill>
              </a:rPr>
              <a:t> Drafts formal resource subsidies and infrastructure requests to the national president to remove bottlenecks.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Executive Scorecard &amp; KPIs:</a:t>
            </a:r>
            <a:r>
              <a:rPr sz="800">
                <a:solidFill>
                  <a:srgbClr val="334155"/>
                </a:solidFill>
              </a:rPr>
              <a:t> Evaluated on Market Share %, Net Revenue &amp; Margin, Inventory Carrying Cost, Return on Capital, and Valuation.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2240280"/>
            <a:ext cx="5248656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28016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CROSS-SYSTEM MECHANICS:  </a:t>
            </a:r>
            <a:r>
              <a:rPr b="1" sz="800">
                <a:solidFill>
                  <a:srgbClr val="0F172A"/>
                </a:solidFill>
              </a:rPr>
              <a:t>6-Month Policy Lag: </a:t>
            </a:r>
            <a:r>
              <a:rPr sz="800">
                <a:solidFill>
                  <a:srgbClr val="334155"/>
                </a:solidFill>
              </a:rPr>
              <a:t>Simulates macroeconomic delay as corporate balance sheets absorb state fiscal decisions.  |  </a:t>
            </a:r>
            <a:r>
              <a:rPr b="1" sz="800">
                <a:solidFill>
                  <a:srgbClr val="0F172A"/>
                </a:solidFill>
              </a:rPr>
              <a:t>Zero-Elimination &amp; AI Swarm: </a:t>
            </a:r>
            <a:r>
              <a:rPr sz="800">
                <a:solidFill>
                  <a:srgbClr val="334155"/>
                </a:solidFill>
              </a:rPr>
              <a:t>All seats play all 14 rounds; inactive seats are autonomously backfilled.  |  </a:t>
            </a:r>
            <a:r>
              <a:rPr b="1" sz="800">
                <a:solidFill>
                  <a:srgbClr val="0F172A"/>
                </a:solidFill>
              </a:rPr>
              <a:t>Context-Grounded AI Advisor: </a:t>
            </a:r>
            <a:r>
              <a:rPr sz="800">
                <a:solidFill>
                  <a:srgbClr val="334155"/>
                </a:solidFill>
              </a:rPr>
              <a:t>Gemini advisor analyzes Assembly debates &amp; Pangea Times news feeds.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035040"/>
            <a:ext cx="731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PANGEAWORLD SIMULATION PLATFORM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System Architecture: Real-Time APIs &amp; Full-Stack Tech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Frontend: React 19 &amp; TypeScript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Zero-Lag Student Client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React 19 Concurrent Features: </a:t>
            </a:r>
            <a:r>
              <a:rPr sz="850">
                <a:solidFill>
                  <a:srgbClr val="334155"/>
                </a:solidFill>
              </a:rPr>
              <a:t>Instant UI updates, optimistic state rendering, and zero-stutter animations during fast-paced student trading sessions.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Strict TypeScript Typing: </a:t>
            </a:r>
            <a:r>
              <a:rPr sz="850">
                <a:solidFill>
                  <a:srgbClr val="334155"/>
                </a:solidFill>
              </a:rPr>
              <a:t>100% typed domain models across player treaties, territory states, financial ledgers, and market transactions.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Pure CSS Layout Engine: </a:t>
            </a:r>
            <a:r>
              <a:rPr sz="850">
                <a:solidFill>
                  <a:srgbClr val="334155"/>
                </a:solidFill>
              </a:rPr>
              <a:t>Responsive design tailored for student laptops, Chromebooks, and tablets without bulky external UI frameworks.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Interactive Canvas Map: </a:t>
            </a:r>
            <a:r>
              <a:rPr sz="850">
                <a:solidFill>
                  <a:srgbClr val="334155"/>
                </a:solidFill>
              </a:rPr>
              <a:t>Hardware-accelerated procedural game board rendering territories, trade routes, naval blockades, and resource icons.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290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Backend: Python FastAPI &amp; WebSockets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High-Throughput State Machine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Sub-Second Synchronization: </a:t>
            </a:r>
            <a:r>
              <a:rPr sz="850">
                <a:solidFill>
                  <a:srgbClr val="334155"/>
                </a:solidFill>
              </a:rPr>
              <a:t>Utilizes WebSockets with custom binary compression for instantaneous state sync (&lt;50ms) across 30+ students per room.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Transactional State Engine: </a:t>
            </a:r>
            <a:r>
              <a:rPr sz="850">
                <a:solidFill>
                  <a:srgbClr val="334155"/>
                </a:solidFill>
              </a:rPr>
              <a:t>Guarantees atomic trade execution, preventing resource duplication, race conditions, or inventory desyncs.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In-Memory Active Sessions: </a:t>
            </a:r>
            <a:r>
              <a:rPr sz="850">
                <a:solidFill>
                  <a:srgbClr val="334155"/>
                </a:solidFill>
              </a:rPr>
              <a:t>Lightning-fast room management handling dozens of concurrent classroom sections with zero database bottleneck.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Automated Heartbeat Reconnection: </a:t>
            </a:r>
            <a:r>
              <a:rPr sz="850">
                <a:solidFill>
                  <a:srgbClr val="334155"/>
                </a:solidFill>
              </a:rPr>
              <a:t>Seamlessly restores student state and active negotiations if a student experiences campus Wi-Fi drops.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1371600"/>
            <a:ext cx="3429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28432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7E22CE"/>
                </a:solidFill>
              </a:defRPr>
            </a:pPr>
            <a:r>
              <a:t>LMS Integration &amp; Security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Academic Enterprise Ready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Canvas LTI 1.3 Compatible: </a:t>
            </a:r>
            <a:r>
              <a:rPr sz="850">
                <a:solidFill>
                  <a:srgbClr val="334155"/>
                </a:solidFill>
              </a:rPr>
              <a:t>Single-Sign-On (SSO) launch directly from Canvas course modules without separate student accounts.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Automated Gradebook Return: </a:t>
            </a:r>
            <a:r>
              <a:rPr sz="850">
                <a:solidFill>
                  <a:srgbClr val="334155"/>
                </a:solidFill>
              </a:rPr>
              <a:t>Directly posts simulation participation points, business ROI scores, and decision metrics into the Canvas gradebook.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Role-Based Access Control: </a:t>
            </a:r>
            <a:r>
              <a:rPr sz="850">
                <a:solidFill>
                  <a:srgbClr val="334155"/>
                </a:solidFill>
              </a:rPr>
              <a:t>Distinct permission models for student teams, course instructors, teaching assistants, and simulation admins.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F172A"/>
                </a:solidFill>
              </a:rPr>
              <a:t>• Zero Client Installation: </a:t>
            </a:r>
            <a:r>
              <a:rPr sz="850">
                <a:solidFill>
                  <a:srgbClr val="334155"/>
                </a:solidFill>
              </a:rPr>
              <a:t>Runs 100% in modern web browsers; requires zero IT approval or desktop software installation for students.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1371600"/>
            <a:ext cx="34290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PANGEAWORLD SIMULATION PLATFORM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Procedural World Map &amp; Deterministic Simulation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8828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PROCEDURAL GAME BOARD (HTML5 CANVAS)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Pure-math sine/cosine wave generator &amp; Voronoi tessellation with server-issued seeds</a:t>
            </a:r>
          </a:p>
        </p:txBody>
      </p:sp>
      <p:pic>
        <p:nvPicPr>
          <p:cNvPr id="10" name="Picture 9" descr="pangeaworld_map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882896" cy="3666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742432"/>
            <a:ext cx="48828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• 8 Sovereign Nations: 7 student powers + 1 rogue AI state (Drakmoor)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Living Geography: Mountain chokepoints, navigable rivers, ocean ports &amp; rail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DETERMINISTIC ENGINE &amp; AUTONOMOUS AI SWARM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Synchronized batch processing, microeconomic physics, and AI seat backfill: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Macroeconomic Brain (round_manager.py)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Simultaneous Turn Resolution: </a:t>
            </a:r>
            <a:r>
              <a:rPr sz="800">
                <a:solidFill>
                  <a:srgbClr val="334155"/>
                </a:solidFill>
              </a:rPr>
              <a:t>Single-batch execution eliminates first-player advantage; all decisions resolve simultaneously.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Microeconomic Pricing &amp; FX: </a:t>
            </a:r>
            <a:r>
              <a:rPr sz="800">
                <a:solidFill>
                  <a:srgbClr val="334155"/>
                </a:solidFill>
              </a:rPr>
              <a:t>Resource prices (oil, minerals, wheat) and floating exchange rates adapt dynamically to trade flows and supply shocks.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Opportunity-Cost Mandate: </a:t>
            </a:r>
            <a:r>
              <a:rPr sz="800">
                <a:solidFill>
                  <a:srgbClr val="334155"/>
                </a:solidFill>
              </a:rPr>
              <a:t>Strict trade-off physics: defense expenditures directly reduce domestic infrastructure and industrial capacity.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Autonomous AI Swarm (ai_backfill.py)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Zero Disruption Seat Backfill: </a:t>
            </a:r>
            <a:r>
              <a:rPr sz="800">
                <a:solidFill>
                  <a:srgbClr val="334155"/>
                </a:solidFill>
              </a:rPr>
              <a:t>Autonomous bots immediately take over vacant nation seats to prevent classroom stalls from student absences.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4 Economic Personalities: </a:t>
            </a:r>
            <a:r>
              <a:rPr sz="800">
                <a:solidFill>
                  <a:srgbClr val="334155"/>
                </a:solidFill>
              </a:rPr>
              <a:t>Mercantile (trade-focused), Protectionist (tariffs/defense), Diplomatic Arbitrator (neutral), and Aggressor (expansionist).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25 Regression Test Suites: </a:t>
            </a:r>
            <a:r>
              <a:rPr sz="800">
                <a:solidFill>
                  <a:srgbClr val="334155"/>
                </a:solidFill>
              </a:rPr>
              <a:t>Rigorous automated test suites ensure economic math integrity, preventing infinite-wealth loops or exploits.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371600"/>
            <a:ext cx="5248656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PANGEAWORLD SIMULATION PLATFORM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Faculty Command Telemetry, Shock Injector &amp; Institutional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FACULTY COMMAND &amp; SHOCK INJECTOR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Live Simulation Telemetry: </a:t>
            </a:r>
            <a:r>
              <a:rPr sz="900">
                <a:solidFill>
                  <a:srgbClr val="334155"/>
                </a:solidFill>
              </a:rPr>
              <a:t>Real-time dashboard tracking student trade volumes, debt-to-GDP ratios, military build-ups, and negotiation chat logs.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Exogenous Shock Injector: </a:t>
            </a:r>
            <a:r>
              <a:rPr sz="900">
                <a:solidFill>
                  <a:srgbClr val="334155"/>
                </a:solidFill>
              </a:rPr>
              <a:t>Allows professors to introduce real-world events mid-game: global supply crunches, canal blockades, oil embargoes, or pandemics.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Pedagogical Pause &amp; Rewind: </a:t>
            </a:r>
            <a:r>
              <a:rPr sz="900">
                <a:solidFill>
                  <a:srgbClr val="334155"/>
                </a:solidFill>
              </a:rPr>
              <a:t>Pause the simulation clock at any critical teaching moment to debrief strategies, examine game theory, or analyze macro mistakes.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Automated Grading Analytics: </a:t>
            </a:r>
            <a:r>
              <a:rPr sz="900">
                <a:solidFill>
                  <a:srgbClr val="334155"/>
                </a:solidFill>
              </a:rPr>
              <a:t>Generates objective performance rubrics based on decision consistency, negotiation skill, and risk management rather than raw wealth.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8776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INSTITUTIONAL VALUE &amp; STUDENT ROI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Direct Student Cost Savings: </a:t>
            </a:r>
            <a:r>
              <a:rPr sz="900">
                <a:solidFill>
                  <a:srgbClr val="334155"/>
                </a:solidFill>
              </a:rPr>
              <a:t>Replaces commercial simulation licenses costing $40–$80 per student with a university-owned, zero-cost asset.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Tailored to Academic Curriculum: </a:t>
            </a:r>
            <a:r>
              <a:rPr sz="900">
                <a:solidFill>
                  <a:srgbClr val="334155"/>
                </a:solidFill>
              </a:rPr>
              <a:t>Custom-built for university learning objectives rather than generic off-the-shelf business games.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Multi-Course Scalability: </a:t>
            </a:r>
            <a:r>
              <a:rPr sz="900">
                <a:solidFill>
                  <a:srgbClr val="334155"/>
                </a:solidFill>
              </a:rPr>
              <a:t>Designed for BUS 380 International Business, but easily deployed in Macroeconomics, Global Supply Chain, and MBA capstones.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Full Intellectual Property Ownership: </a:t>
            </a:r>
            <a:r>
              <a:rPr sz="900">
                <a:solidFill>
                  <a:srgbClr val="334155"/>
                </a:solidFill>
              </a:rPr>
              <a:t>100% university-owned proprietary asset with no recurring vendor licensing fees or per-seat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371600"/>
            <a:ext cx="5248656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